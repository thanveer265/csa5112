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leN5oeyh3UBZKGZWAIgnwHaEK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95" r:id="rId3"/>
    <p:sldId id="297" r:id="rId4"/>
    <p:sldId id="298" r:id="rId5"/>
    <p:sldId id="299" r:id="rId6"/>
    <p:sldId id="300" r:id="rId7"/>
    <p:sldId id="275" r:id="rId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94660"/>
  </p:normalViewPr>
  <p:slideViewPr>
    <p:cSldViewPr snapToGrid="0">
      <p:cViewPr varScale="1">
        <p:scale>
          <a:sx n="49" d="100"/>
          <a:sy n="49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302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6E40-B480-F706-D37D-6B9B5A33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A1EE3-8D3D-F1FD-1A04-7BE97BBFC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7FC69-2C5A-B455-6983-A315C4F98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518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D694-1BF7-A8C5-1EE5-D6DB7878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0F7AF-2A4A-B968-DA49-E946838D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ADC66-8F51-844B-E56B-EC0DADC1D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667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5DB6-37BC-CC3B-B792-D32D32A3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CF471-4F37-A3EA-6FCD-189FC41FA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FD666-FEBD-008B-DEDC-27FB5BC27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776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D9D0-C8A6-76D5-F542-F62D37F0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E8506-167C-C536-3E2A-3C8F13F97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4B1C5-7B08-FAAF-7BBB-7B1E7B2CD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80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05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svgsilh.com/image/28741.html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WleN5oeyh3UBZKGZWAIgnwHaEK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911529" y="2119922"/>
            <a:ext cx="15592730" cy="6366556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Freeform 6"/>
          <p:cNvSpPr/>
          <p:nvPr/>
        </p:nvSpPr>
        <p:spPr>
          <a:xfrm>
            <a:off x="15971645" y="287439"/>
            <a:ext cx="1702690" cy="201434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Freeform 8"/>
          <p:cNvSpPr/>
          <p:nvPr/>
        </p:nvSpPr>
        <p:spPr>
          <a:xfrm>
            <a:off x="482079" y="306489"/>
            <a:ext cx="2280190" cy="20143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Freeform 10"/>
          <p:cNvSpPr/>
          <p:nvPr/>
        </p:nvSpPr>
        <p:spPr>
          <a:xfrm>
            <a:off x="3528989" y="225413"/>
            <a:ext cx="11656887" cy="209273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11"/>
          <p:cNvSpPr txBox="1"/>
          <p:nvPr/>
        </p:nvSpPr>
        <p:spPr>
          <a:xfrm>
            <a:off x="11117276" y="7618940"/>
            <a:ext cx="6259195" cy="227901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Thanveer T  (192424107)</a:t>
            </a:r>
          </a:p>
        </p:txBody>
      </p:sp>
      <p:sp>
        <p:nvSpPr>
          <p:cNvPr id="101" name="TextBox 12"/>
          <p:cNvSpPr txBox="1"/>
          <p:nvPr/>
        </p:nvSpPr>
        <p:spPr>
          <a:xfrm>
            <a:off x="439103" y="7955884"/>
            <a:ext cx="4132897" cy="106118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Dr. Anbazhagan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2C6E0-7607-5651-FFBB-7B4B8FC62F69}"/>
              </a:ext>
            </a:extLst>
          </p:cNvPr>
          <p:cNvSpPr txBox="1"/>
          <p:nvPr/>
        </p:nvSpPr>
        <p:spPr>
          <a:xfrm>
            <a:off x="4572000" y="2322024"/>
            <a:ext cx="9144000" cy="1067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48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A776E-5B6D-F7FB-F65E-FFDA6E44F33D}"/>
              </a:ext>
            </a:extLst>
          </p:cNvPr>
          <p:cNvSpPr txBox="1"/>
          <p:nvPr/>
        </p:nvSpPr>
        <p:spPr>
          <a:xfrm>
            <a:off x="3341135" y="3727570"/>
            <a:ext cx="12804471" cy="1377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Cryptography and Information Security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CSA5112 – Cryptography and Network Security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0269-5FA0-A6C1-B4DF-07E21ED0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6">
            <a:extLst>
              <a:ext uri="{FF2B5EF4-FFF2-40B4-BE49-F238E27FC236}">
                <a16:creationId xmlns:a16="http://schemas.microsoft.com/office/drawing/2014/main" id="{D337C976-2E8E-E88E-0C96-8A5DACDB39D6}"/>
              </a:ext>
            </a:extLst>
          </p:cNvPr>
          <p:cNvSpPr txBox="1"/>
          <p:nvPr/>
        </p:nvSpPr>
        <p:spPr>
          <a:xfrm>
            <a:off x="532801" y="2266602"/>
            <a:ext cx="11733222" cy="272341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(InfoSec) protects data from unauthorized access, modification, disclosure, or destruction.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data remains confidential, accurate, and available.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essential for protecting personal, business, and government information.</a:t>
            </a:r>
            <a:endParaRPr lang="en-US" altLang="en-US" sz="28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Freeform 7">
            <a:extLst>
              <a:ext uri="{FF2B5EF4-FFF2-40B4-BE49-F238E27FC236}">
                <a16:creationId xmlns:a16="http://schemas.microsoft.com/office/drawing/2014/main" id="{A4089B77-C93E-D4E0-6075-92CEA751FB9C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E43AC0BC-219E-E424-4570-F699724630AE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3FC8C66-9EEA-4553-F49B-B0676EF7C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2430125" y="2295699"/>
            <a:ext cx="5145023" cy="6904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09236-6DE8-C29D-36C1-D3D7F4668358}"/>
              </a:ext>
            </a:extLst>
          </p:cNvPr>
          <p:cNvSpPr txBox="1"/>
          <p:nvPr/>
        </p:nvSpPr>
        <p:spPr>
          <a:xfrm>
            <a:off x="4232366" y="632338"/>
            <a:ext cx="11548263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Information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BE151-F40F-169E-F70B-D4E030B687E1}"/>
              </a:ext>
            </a:extLst>
          </p:cNvPr>
          <p:cNvSpPr txBox="1"/>
          <p:nvPr/>
        </p:nvSpPr>
        <p:spPr>
          <a:xfrm>
            <a:off x="532801" y="5143500"/>
            <a:ext cx="9144000" cy="27848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personal and financial information.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cyber attacks and data breaches.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trust in digital communication and online services.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5BAAD4-E535-F6D5-11A9-BA3C4B654661}"/>
              </a:ext>
            </a:extLst>
          </p:cNvPr>
          <p:cNvSpPr txBox="1"/>
          <p:nvPr/>
        </p:nvSpPr>
        <p:spPr>
          <a:xfrm>
            <a:off x="1839087" y="8290858"/>
            <a:ext cx="7837714" cy="156965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🏦 Online Banking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WhatsApp Messaging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 Cloud Storage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008419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9EAD-F393-589C-D116-8DEE3077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4BC1FB4C-EC0B-F486-733A-FEB502F71E7D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84B0D7B-A807-CE24-E5C3-C462EE73C60C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A7437-0B2C-A73D-CD07-FA371B84BBF2}"/>
              </a:ext>
            </a:extLst>
          </p:cNvPr>
          <p:cNvSpPr txBox="1"/>
          <p:nvPr/>
        </p:nvSpPr>
        <p:spPr>
          <a:xfrm>
            <a:off x="5972174" y="632338"/>
            <a:ext cx="776995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Security Goals (CIA Triad)</a:t>
            </a:r>
            <a:endParaRPr lang="en-IN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F0EDA-A7C5-7ACC-8CE6-E3D804B94BE0}"/>
              </a:ext>
            </a:extLst>
          </p:cNvPr>
          <p:cNvSpPr txBox="1"/>
          <p:nvPr/>
        </p:nvSpPr>
        <p:spPr>
          <a:xfrm>
            <a:off x="883036" y="2499514"/>
            <a:ext cx="9144000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access information.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data from unauthorized disclosure.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Password-protected online banking.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08328-9379-E017-52DF-E62E6E93E79A}"/>
              </a:ext>
            </a:extLst>
          </p:cNvPr>
          <p:cNvSpPr txBox="1"/>
          <p:nvPr/>
        </p:nvSpPr>
        <p:spPr>
          <a:xfrm>
            <a:off x="883036" y="6110903"/>
            <a:ext cx="9144000" cy="2000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systems and data are accessible whenever needed.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downtime and service interruptions.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services available 24/7.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4B1191-172E-8F93-5589-AF621FF3B95F}"/>
              </a:ext>
            </a:extLst>
          </p:cNvPr>
          <p:cNvSpPr txBox="1"/>
          <p:nvPr/>
        </p:nvSpPr>
        <p:spPr>
          <a:xfrm>
            <a:off x="883036" y="4192285"/>
            <a:ext cx="7767399" cy="163121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remains accurate and unaltered.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unauthorized modifications.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 results stored securely.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A6409-3C5F-A9F2-8B0B-B73457C42A28}"/>
              </a:ext>
            </a:extLst>
          </p:cNvPr>
          <p:cNvSpPr txBox="1"/>
          <p:nvPr/>
        </p:nvSpPr>
        <p:spPr>
          <a:xfrm>
            <a:off x="883036" y="8111451"/>
            <a:ext cx="7767399" cy="126188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Bell–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LaPadula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Model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model focused on maintaining confidentiality.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military and government systems.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9F196-B9D6-7813-108D-1DB7696AE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201" y="3621981"/>
            <a:ext cx="6697484" cy="37673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86472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3573-BAAF-117B-8AFA-2B229BFD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D4ED60DF-F54D-867F-22E2-90EE1D639624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E5A8D5E9-A892-D3C3-1E19-90FD0581701B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1A1AE-8B56-6D1F-DC35-E50778508880}"/>
              </a:ext>
            </a:extLst>
          </p:cNvPr>
          <p:cNvSpPr txBox="1"/>
          <p:nvPr/>
        </p:nvSpPr>
        <p:spPr>
          <a:xfrm>
            <a:off x="4332481" y="625112"/>
            <a:ext cx="10286999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and Risks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5084A-1A0F-4EE3-F0A4-CAB9256A9C5E}"/>
              </a:ext>
            </a:extLst>
          </p:cNvPr>
          <p:cNvSpPr txBox="1"/>
          <p:nvPr/>
        </p:nvSpPr>
        <p:spPr>
          <a:xfrm>
            <a:off x="2886891" y="2416554"/>
            <a:ext cx="10855235" cy="120032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attempt to gain unauthorized access or damage a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compromise data confidentiality, integrity, or availability.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F6CE0-34FF-64C4-9F0A-030D04F23F14}"/>
              </a:ext>
            </a:extLst>
          </p:cNvPr>
          <p:cNvSpPr txBox="1"/>
          <p:nvPr/>
        </p:nvSpPr>
        <p:spPr>
          <a:xfrm>
            <a:off x="2886891" y="3869441"/>
            <a:ext cx="11790759" cy="8925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Attacks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Phishing, Password Attacks , Denial-of-Service (DoS) , Man-in-the-Middle (MITM)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5BC95-979A-7C8D-0EB1-135A614019F6}"/>
              </a:ext>
            </a:extLst>
          </p:cNvPr>
          <p:cNvSpPr txBox="1"/>
          <p:nvPr/>
        </p:nvSpPr>
        <p:spPr>
          <a:xfrm>
            <a:off x="2886891" y="5143500"/>
            <a:ext cx="11790759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source of harm that can exploit vulnerabilities.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 , Computer Viruses , Insider Threats , Natural Disasters </a:t>
            </a:r>
          </a:p>
          <a:p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99B7A-EDD0-4BC8-6EF7-13F6B00CB8D1}"/>
              </a:ext>
            </a:extLst>
          </p:cNvPr>
          <p:cNvSpPr txBox="1"/>
          <p:nvPr/>
        </p:nvSpPr>
        <p:spPr>
          <a:xfrm>
            <a:off x="2886891" y="7183008"/>
            <a:ext cx="12752411" cy="23083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possibility that a threat will exploit a vulnerability and cause damage.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 passwords , Enable Multi-Factor Authentication (MFA),  Install antivirus software,  Keep systems updated , Perform regular data backups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A38E27-1B52-1093-0424-912956331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2061" y="5203972"/>
            <a:ext cx="5571177" cy="25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96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A680-4220-727B-512A-74FD4B5B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79CF38D2-EC58-95A5-EF71-DD839FB62465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D8FEF831-0F84-7457-BE80-534D673D6464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944A0-BA9D-CEB4-6D5D-8280681CA65D}"/>
              </a:ext>
            </a:extLst>
          </p:cNvPr>
          <p:cNvSpPr txBox="1"/>
          <p:nvPr/>
        </p:nvSpPr>
        <p:spPr>
          <a:xfrm>
            <a:off x="4932863" y="447613"/>
            <a:ext cx="919023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FF235-DA78-A988-E433-49FAD9B0BEDF}"/>
              </a:ext>
            </a:extLst>
          </p:cNvPr>
          <p:cNvSpPr txBox="1"/>
          <p:nvPr/>
        </p:nvSpPr>
        <p:spPr>
          <a:xfrm>
            <a:off x="2122205" y="2325189"/>
            <a:ext cx="9190230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Encryption?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converts readable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unreadable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protects information from unauthorized access during storage or transmission.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048E4-0E41-8B2E-D6EB-5E8942AE1442}"/>
              </a:ext>
            </a:extLst>
          </p:cNvPr>
          <p:cNvSpPr txBox="1"/>
          <p:nvPr/>
        </p:nvSpPr>
        <p:spPr>
          <a:xfrm>
            <a:off x="2122205" y="4013985"/>
            <a:ext cx="8268788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fixed shift value to replace each letter.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substitution cipher.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HELLO → KHOOR (Shift = 3)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40B3A-410A-82F8-8B65-6524B995C573}"/>
              </a:ext>
            </a:extLst>
          </p:cNvPr>
          <p:cNvSpPr txBox="1"/>
          <p:nvPr/>
        </p:nvSpPr>
        <p:spPr>
          <a:xfrm>
            <a:off x="2102101" y="5910099"/>
            <a:ext cx="8660674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keyword to encrypt the message.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letter is shifted differently based on the keyword.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than Caesar Cipher.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2721A-94EB-0C58-C5EE-26424947B3A5}"/>
              </a:ext>
            </a:extLst>
          </p:cNvPr>
          <p:cNvSpPr txBox="1"/>
          <p:nvPr/>
        </p:nvSpPr>
        <p:spPr>
          <a:xfrm>
            <a:off x="2102101" y="7806213"/>
            <a:ext cx="8491876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matrix multiplication for encryption.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groups of letters instead of individual characters.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stronger security than simple substitution ciphers.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824D8-026D-21C1-7109-3767BF92F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2423" y="3880407"/>
            <a:ext cx="6883107" cy="44740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646878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58BF-A152-56A6-983A-E933F848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F55D04EA-AA4F-9955-0085-F5CA549DAEC7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F7FB261-469B-0AE8-EA2D-8D85208D8B67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B52F1-0122-EBBA-4F60-8B81891940DE}"/>
              </a:ext>
            </a:extLst>
          </p:cNvPr>
          <p:cNvSpPr txBox="1"/>
          <p:nvPr/>
        </p:nvSpPr>
        <p:spPr>
          <a:xfrm>
            <a:off x="4689566" y="598986"/>
            <a:ext cx="10569995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Key Takeaways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95CA4-8588-19B3-1867-05175C985CE3}"/>
              </a:ext>
            </a:extLst>
          </p:cNvPr>
          <p:cNvSpPr txBox="1"/>
          <p:nvPr/>
        </p:nvSpPr>
        <p:spPr>
          <a:xfrm>
            <a:off x="2369395" y="2224218"/>
            <a:ext cx="11299371" cy="38472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Banking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Communication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 Security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Encryption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Signatures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 Security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Mobile Applications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EFA92-C650-4760-0892-F902D9820F66}"/>
              </a:ext>
            </a:extLst>
          </p:cNvPr>
          <p:cNvSpPr txBox="1"/>
          <p:nvPr/>
        </p:nvSpPr>
        <p:spPr>
          <a:xfrm>
            <a:off x="2369395" y="6539289"/>
            <a:ext cx="10569995" cy="304698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protects valuable digital information.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 Triad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Confidentiality, Integrity, and Availability.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Bell–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LaPadula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confidential information through access control.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and risks must be identified and managed.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encryption techniques are the foundation of modern cryptography.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9A5E1-98B3-5E10-A67D-CEDE640948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376"/>
          <a:stretch>
            <a:fillRect/>
          </a:stretch>
        </p:blipFill>
        <p:spPr>
          <a:xfrm>
            <a:off x="11827630" y="2692084"/>
            <a:ext cx="5927569" cy="46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387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6"/>
          <p:cNvSpPr/>
          <p:nvPr/>
        </p:nvSpPr>
        <p:spPr>
          <a:xfrm>
            <a:off x="3936302" y="4648619"/>
            <a:ext cx="10799445" cy="15573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5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ctr" eaLnBrk="0">
              <a:lnSpc>
                <a:spcPct val="69000"/>
              </a:lnSpc>
            </a:pPr>
            <a:r>
              <a:rPr sz="14400" spc="-60" dirty="0">
                <a:solidFill>
                  <a:srgbClr val="000000">
                    <a:alpha val="100000"/>
                  </a:srgbClr>
                </a:solidFill>
                <a:latin typeface="Algerian" panose="04020705040A02060702" pitchFamily="82" charset="0"/>
                <a:ea typeface="Times New Roman" panose="02020603050405020304"/>
                <a:cs typeface="Times New Roman" panose="02020603050405020304"/>
              </a:rPr>
              <a:t>THANK YOU</a:t>
            </a:r>
            <a:endParaRPr sz="14400" dirty="0">
              <a:latin typeface="Algerian" panose="04020705040A02060702" pitchFamily="82" charset="0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783091" y="390792"/>
            <a:ext cx="2295254" cy="2295255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3504" y="319352"/>
            <a:ext cx="1920572" cy="24381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504</Words>
  <Application>Microsoft Office PowerPoint</Application>
  <PresentationFormat>Custom</PresentationFormat>
  <Paragraphs>81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VISWA SANKAR</dc:creator>
  <cp:keywords>VENKATA PRASADH REDDY</cp:keywords>
  <cp:lastModifiedBy>Thanveer T</cp:lastModifiedBy>
  <cp:revision>88</cp:revision>
  <dcterms:created xsi:type="dcterms:W3CDTF">2026-06-14T12:15:00Z</dcterms:created>
  <dcterms:modified xsi:type="dcterms:W3CDTF">2026-07-21T16:02:53Z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51D6A701CB77437C81B89BB90DA8A435_13</vt:lpwstr>
  </property>
</Properties>
</file>